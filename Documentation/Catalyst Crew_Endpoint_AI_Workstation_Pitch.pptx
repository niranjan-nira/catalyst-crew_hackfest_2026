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4" r:id="rId2"/>
    <p:sldId id="257" r:id="rId3"/>
    <p:sldId id="258" r:id="rId4"/>
    <p:sldId id="259" r:id="rId5"/>
    <p:sldId id="270" r:id="rId6"/>
    <p:sldId id="265" r:id="rId7"/>
    <p:sldId id="266" r:id="rId8"/>
    <p:sldId id="271" r:id="rId9"/>
    <p:sldId id="267" r:id="rId10"/>
    <p:sldId id="269" r:id="rId11"/>
    <p:sldId id="260" r:id="rId12"/>
    <p:sldId id="263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313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CB57E-962C-4777-9B55-B61FF92B9F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77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F_MASTER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124F"/>
          </a:solidFill>
          <a:ln w="12700">
            <a:solidFill>
              <a:srgbClr val="081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287000" y="64739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E78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HACKFEST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12700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3B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cover_illustration">
    <p:bg>
      <p:bgPr>
        <a:solidFill>
          <a:srgbClr val="29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5CB4A4-7435-1A41-8813-A7FFEC34FA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Background pattern&#10;&#10;Description automatically generated">
            <a:extLst>
              <a:ext uri="{FF2B5EF4-FFF2-40B4-BE49-F238E27FC236}">
                <a16:creationId xmlns:a16="http://schemas.microsoft.com/office/drawing/2014/main" id="{DB788935-E7B2-2CAC-0048-B92417139B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43803D-31FA-692F-1CDF-A332274BC332}"/>
              </a:ext>
            </a:extLst>
          </p:cNvPr>
          <p:cNvSpPr txBox="1"/>
          <p:nvPr/>
        </p:nvSpPr>
        <p:spPr>
          <a:xfrm>
            <a:off x="288558" y="6532236"/>
            <a:ext cx="2458455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tx1">
                    <a:lumMod val="40000"/>
                    <a:lumOff val="60000"/>
                  </a:schemeClr>
                </a:solidFill>
              </a:rPr>
              <a:t>© 2023 Nielsen Consumer LLC. All Rights Reserved.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987C027-455E-4C45-138D-8334F13BBE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558" y="635035"/>
            <a:ext cx="8642082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your presentation title here maximum of three lines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A4501D72-EE3C-0DA6-BA4B-C1D78BA85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558" y="3114710"/>
            <a:ext cx="8642082" cy="8378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255DA8-5A10-9683-AFED-A7964FA406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801" y="5694428"/>
            <a:ext cx="1219198" cy="518807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417592A-6067-984F-549E-3833CDB76A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8559" y="4192468"/>
            <a:ext cx="8642082" cy="344384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DADB3285-032F-C5EA-E4E6-C62E075FF1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8559" y="4560602"/>
            <a:ext cx="8642082" cy="34438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Title/Department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91FCFC2-D727-8EBA-2D19-E4EEAE93A9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8559" y="5110167"/>
            <a:ext cx="8642082" cy="34438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531417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3B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5C2B3C7-96DB-9CB1-B976-7A4EF956DA5A}"/>
              </a:ext>
            </a:extLst>
          </p:cNvPr>
          <p:cNvSpPr/>
          <p:nvPr/>
        </p:nvSpPr>
        <p:spPr>
          <a:xfrm>
            <a:off x="7406640" y="22860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FFFF"/>
                </a:solidFill>
              </a:rPr>
              <a:t>HACKFEST 2026</a:t>
            </a:r>
            <a:endParaRPr lang="en-US" sz="3000" b="1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49B5C7B-01D0-2D2D-0BA9-86D4216B6DCF}"/>
              </a:ext>
            </a:extLst>
          </p:cNvPr>
          <p:cNvSpPr/>
          <p:nvPr/>
        </p:nvSpPr>
        <p:spPr>
          <a:xfrm>
            <a:off x="8140588" y="667512"/>
            <a:ext cx="34265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</a:rPr>
              <a:t>By Innovation Council</a:t>
            </a:r>
            <a:endParaRPr lang="en-US" sz="14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C0D318E5-DCBD-088D-763C-19720A6A7AAB}"/>
              </a:ext>
            </a:extLst>
          </p:cNvPr>
          <p:cNvSpPr/>
          <p:nvPr/>
        </p:nvSpPr>
        <p:spPr>
          <a:xfrm>
            <a:off x="7704697" y="5751576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FFFF"/>
                </a:solidFill>
              </a:rPr>
              <a:t>Ignite Ideas. Build the future.</a:t>
            </a:r>
            <a:endParaRPr lang="en-US" sz="3000" b="1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364064EB-8F77-52B3-74A8-BF6DBCB6459A}"/>
              </a:ext>
            </a:extLst>
          </p:cNvPr>
          <p:cNvSpPr/>
          <p:nvPr/>
        </p:nvSpPr>
        <p:spPr>
          <a:xfrm>
            <a:off x="-97374" y="452023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FFFF"/>
                </a:solidFill>
              </a:rPr>
              <a:t>Endpoint AI Workstation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215064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6AF6"/>
                </a:solidFill>
              </a:rPr>
              <a:t>01 / STORY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8124F"/>
                </a:solidFill>
              </a:rPr>
              <a:t>Problem &amp; Solution Overview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784"/>
                </a:solidFill>
              </a:rPr>
              <a:t>From scattered diagnostic logs to a trusted, evidence-backed case report — automatically.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53492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73152" cy="1261872"/>
          </a:xfrm>
          <a:prstGeom prst="rect">
            <a:avLst/>
          </a:prstGeom>
          <a:solidFill>
            <a:srgbClr val="2E6AF6"/>
          </a:solidFill>
          <a:ln w="12700">
            <a:solidFill>
              <a:srgbClr val="2E6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1728216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PROBLEM STATEMENT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8096" y="2011680"/>
            <a:ext cx="4965192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Diagnosing a failing Windows endpoint means manually correlating 17 folders of raw logs — event logs, crash dumps, hardware and resource data — a slow process that depends on deep expertise.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58968" y="1700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AF6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572768"/>
            <a:ext cx="53492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45352" y="1572768"/>
            <a:ext cx="73152" cy="1261872"/>
          </a:xfrm>
          <a:prstGeom prst="rect">
            <a:avLst/>
          </a:prstGeom>
          <a:solidFill>
            <a:srgbClr val="35C7D8"/>
          </a:solidFill>
          <a:ln w="12700">
            <a:solidFill>
              <a:srgbClr val="35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1728216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TARGET AUDIENCE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46520" y="2011680"/>
            <a:ext cx="4965192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IT helpdesk technicians, endpoint reliability engineers and sysadmins who triage enterprise laptop and desktop failures.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37392" y="1700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5C7D8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090672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6928" y="3090672"/>
            <a:ext cx="73152" cy="1481328"/>
          </a:xfrm>
          <a:prstGeom prst="rect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8096" y="3246120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YOUR SOLUTION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68096" y="3529584"/>
            <a:ext cx="4965192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Endpoint AI Workstation ingests a diagnostic folder or ZIP, auto-detects anomalies across 9 categories, and builds a tiered, evidence-cited root-cause report with safe remediation scripts.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58968" y="32186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83D"/>
                </a:solidFill>
              </a:rPr>
              <a:t>03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45352" y="3090672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45352" y="3090672"/>
            <a:ext cx="73152" cy="1481328"/>
          </a:xfrm>
          <a:prstGeom prst="rect">
            <a:avLst/>
          </a:prstGeom>
          <a:solidFill>
            <a:srgbClr val="38B27B"/>
          </a:solidFill>
          <a:ln w="12700">
            <a:solidFill>
              <a:srgbClr val="38B2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46520" y="3246120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VALUE PROPOSITION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46520" y="3529584"/>
            <a:ext cx="4965192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Every finding is source-cited and confidence-scored across 4 tiers — not a black box. An optional Luna 5.6 chat lets technicians ask follow-ups grounded in the case’s own evidence.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37392" y="32186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27B"/>
                </a:solidFill>
              </a:rPr>
              <a:t>04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4956048"/>
            <a:ext cx="1271016" cy="310896"/>
          </a:xfrm>
          <a:prstGeom prst="roundRect">
            <a:avLst>
              <a:gd name="adj" fmla="val 23529"/>
            </a:avLst>
          </a:prstGeom>
          <a:solidFill>
            <a:srgbClr val="DCE8FF"/>
          </a:solidFill>
          <a:ln w="12700">
            <a:solidFill>
              <a:srgbClr val="DCE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502005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6AF6"/>
                </a:solidFill>
              </a:rPr>
              <a:t>BEFORE → AFTER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828800" y="5010912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784"/>
                </a:solidFill>
              </a:rPr>
              <a:t>Before: hours of manual log correlation per incident. After: a cited, tiered case report and a ready-to-run remediation script in minutes.</a:t>
            </a:r>
            <a:endParaRPr lang="en-US" sz="10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3B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6AF6"/>
                </a:solidFill>
              </a:rPr>
              <a:t>02 /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8124F"/>
                </a:solidFill>
              </a:rPr>
              <a:t>Detailed Solution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784"/>
                </a:solidFill>
              </a:rPr>
              <a:t>A deterministic diagnosis engine paired with grounded RCA — every claim traces back to a cited source file.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370332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73152" cy="3401568"/>
          </a:xfrm>
          <a:prstGeom prst="rect">
            <a:avLst/>
          </a:prstGeom>
          <a:solidFill>
            <a:srgbClr val="2E6AF6"/>
          </a:solidFill>
          <a:ln w="12700">
            <a:solidFill>
              <a:srgbClr val="2E6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175564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INNOVATION &amp; ORIGINALITY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8096" y="2039112"/>
            <a:ext cx="3319272" cy="2816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Evidence chains, not guesses.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Statistical Z-score/IQR micro-spike detection, monotonic memory-leak regression and multi-process crash-cluster correlation feed a local RCA agent that builds cited evidence chains instead of LLM guesses.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13048" y="17282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AF6"/>
                </a:solidFill>
              </a:rPr>
              <a:t>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16552" y="1600200"/>
            <a:ext cx="370332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16552" y="1600200"/>
            <a:ext cx="73152" cy="3401568"/>
          </a:xfrm>
          <a:prstGeom prst="rect">
            <a:avLst/>
          </a:prstGeom>
          <a:solidFill>
            <a:srgbClr val="35C7D8"/>
          </a:solidFill>
          <a:ln w="12700">
            <a:solidFill>
              <a:srgbClr val="35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75564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SCALABILITY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17720" y="2039112"/>
            <a:ext cx="3319272" cy="2816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Built to generalize, not one device.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Modular per-category detectors generalize to any 17-module diagnostic capture. Accepted case RCAs feed back into the RAG knowledge base, so it improves with every case solved.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62672" y="17282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5C7D8"/>
                </a:solidFill>
              </a:rPr>
              <a:t>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66176" y="1600200"/>
            <a:ext cx="3328416" cy="3401568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66176" y="1600200"/>
            <a:ext cx="73152" cy="3401568"/>
          </a:xfrm>
          <a:prstGeom prst="rect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67344" y="1755648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ROLE OF AI &amp; COST EFFECTIVENESS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67344" y="2039112"/>
            <a:ext cx="2944368" cy="2816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Detection and RCA run offline at zero cost via rules plus hybrid BM25/semantic RAG. Luna 5.6 is strictly opt-in — used only to narrate findings and power case chat, never for core detection.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37392" y="17282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83D"/>
                </a:solidFill>
              </a:rPr>
              <a:t>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257800"/>
            <a:ext cx="1408176" cy="310896"/>
          </a:xfrm>
          <a:prstGeom prst="roundRect">
            <a:avLst>
              <a:gd name="adj" fmla="val 23529"/>
            </a:avLst>
          </a:prstGeom>
          <a:solidFill>
            <a:srgbClr val="08124F"/>
          </a:solidFill>
          <a:ln w="12700">
            <a:solidFill>
              <a:srgbClr val="081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5321808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EVIDENCE-BACKED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65960" y="532180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784"/>
                </a:solidFill>
              </a:rPr>
              <a:t>Each RCA states its evidence chain and a confidence percentage — e.g. install-date proximity → crash-timeline position → crash signature → cascading pattern.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3B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6AF6"/>
                </a:solidFill>
              </a:rPr>
              <a:t>03 /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8124F"/>
                </a:solidFill>
              </a:rPr>
              <a:t>How It Works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784"/>
                </a:solidFill>
              </a:rPr>
              <a:t>The pipeline from raw endpoint logs to a cited case report and safe remediation.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591056"/>
            <a:ext cx="210312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591056"/>
            <a:ext cx="73152" cy="1993392"/>
          </a:xfrm>
          <a:prstGeom prst="rect">
            <a:avLst/>
          </a:prstGeom>
          <a:solidFill>
            <a:srgbClr val="2E6AF6"/>
          </a:solidFill>
          <a:ln w="12700">
            <a:solidFill>
              <a:srgbClr val="2E6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5528" y="17465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INPUT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95528" y="2029968"/>
            <a:ext cx="1719072" cy="1408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Folder or ZIP upload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17-module Windows diagnostic capture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40280" y="1719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AF6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15768" y="2258568"/>
            <a:ext cx="256032" cy="384048"/>
          </a:xfrm>
          <a:prstGeom prst="chevron">
            <a:avLst/>
          </a:prstGeom>
          <a:solidFill>
            <a:srgbClr val="C8D0E4"/>
          </a:solidFill>
          <a:ln w="12700">
            <a:solidFill>
              <a:srgbClr val="C8D0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35808" y="1591056"/>
            <a:ext cx="210312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035808" y="1591056"/>
            <a:ext cx="73152" cy="1993392"/>
          </a:xfrm>
          <a:prstGeom prst="rect">
            <a:avLst/>
          </a:prstGeom>
          <a:solidFill>
            <a:srgbClr val="35C7D8"/>
          </a:solidFill>
          <a:ln w="12700">
            <a:solidFill>
              <a:srgbClr val="35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36976" y="17465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INTELLIGENCE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36976" y="2029968"/>
            <a:ext cx="1719072" cy="1408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Diagnosis Engine + RCA Agent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9-category detectors, then grounded root-cause evidence chains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1728" y="1719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5C7D8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57216" y="2258568"/>
            <a:ext cx="256032" cy="384048"/>
          </a:xfrm>
          <a:prstGeom prst="chevron">
            <a:avLst/>
          </a:prstGeom>
          <a:solidFill>
            <a:srgbClr val="C8D0E4"/>
          </a:solidFill>
          <a:ln w="12700">
            <a:solidFill>
              <a:srgbClr val="C8D0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0" y="1591056"/>
            <a:ext cx="210312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0" y="1591056"/>
            <a:ext cx="73152" cy="1993392"/>
          </a:xfrm>
          <a:prstGeom prst="rect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87568" y="17465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ACTION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87568" y="2029968"/>
            <a:ext cx="1719072" cy="1408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Scripts + RAG search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Self-healing PowerShell with dry-run &amp; rollback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0" y="1719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83D"/>
                </a:solidFill>
              </a:rPr>
              <a:t>03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98664" y="2258568"/>
            <a:ext cx="256032" cy="384048"/>
          </a:xfrm>
          <a:prstGeom prst="chevron">
            <a:avLst/>
          </a:prstGeom>
          <a:solidFill>
            <a:srgbClr val="C8D0E4"/>
          </a:solidFill>
          <a:ln w="12700">
            <a:solidFill>
              <a:srgbClr val="C8D0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36992" y="1591056"/>
            <a:ext cx="210312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936992" y="1591056"/>
            <a:ext cx="73152" cy="1993392"/>
          </a:xfrm>
          <a:prstGeom prst="rect">
            <a:avLst/>
          </a:prstGeom>
          <a:solidFill>
            <a:srgbClr val="38B27B"/>
          </a:solidFill>
          <a:ln w="12700">
            <a:solidFill>
              <a:srgbClr val="38B2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38160" y="17465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OUTCOME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138160" y="2029968"/>
            <a:ext cx="1719072" cy="1408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Cited case report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Tiered findings, PDF/MD/SIEM export, ready-to-run scripts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82912" y="1719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27B"/>
                </a:solidFill>
              </a:rPr>
              <a:t>04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3886200"/>
            <a:ext cx="33375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4360" y="3886200"/>
            <a:ext cx="73152" cy="1298448"/>
          </a:xfrm>
          <a:prstGeom prst="rect">
            <a:avLst/>
          </a:prstGeom>
          <a:solidFill>
            <a:srgbClr val="2E6AF6"/>
          </a:solidFill>
          <a:ln w="12700">
            <a:solidFill>
              <a:srgbClr val="2E6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95528" y="404164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KEY FEATURES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5528" y="4325112"/>
            <a:ext cx="2953512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Confidence-scored findings across 4 tiers, self-healing PowerShell with dry-run + rollback, and a knowledge base that learns from every accepted case.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087368" y="3886200"/>
            <a:ext cx="33375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087368" y="3886200"/>
            <a:ext cx="73152" cy="1298448"/>
          </a:xfrm>
          <a:prstGeom prst="rect">
            <a:avLst/>
          </a:prstGeom>
          <a:solidFill>
            <a:srgbClr val="35C7D8"/>
          </a:solidFill>
          <a:ln w="12700">
            <a:solidFill>
              <a:srgbClr val="35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288536" y="404164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TECH STACK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288536" y="4325112"/>
            <a:ext cx="2953512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Python, Streamlit, pandas/Altair, ReportLab, Okapi BM25 + SentenceTransformers (RAG), optional Luna 5.6 LLM via Azure AI Inference.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580376" y="3886200"/>
            <a:ext cx="4014216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580376" y="3886200"/>
            <a:ext cx="73152" cy="1298448"/>
          </a:xfrm>
          <a:prstGeom prst="rect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81544" y="4041648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DEMO LINK OR SCREENSHOTS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781544" y="4325112"/>
            <a:ext cx="3630168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Streamlit app: Overview, Findings, Root Cause, Knowledge, Actions, Community and Luna Chat tabs — all driven by one diagnostic capture.</a:t>
            </a:r>
            <a:endParaRPr lang="en-US" sz="13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3B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98755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900" b="1">
                <a:solidFill>
                  <a:srgbClr val="2E6AF6"/>
                </a:solidFill>
                <a:latin typeface="Aptos"/>
              </a:rPr>
              <a:t>04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9875520" cy="4206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700" b="1">
                <a:solidFill>
                  <a:srgbClr val="08124F"/>
                </a:solidFill>
                <a:latin typeface="Aptos"/>
              </a:rP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05156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50">
                <a:solidFill>
                  <a:srgbClr val="5E6784"/>
                </a:solidFill>
                <a:latin typeface="Aptos"/>
              </a:rPr>
              <a:t>Collect → Normalize → Analyze → Act, backed by a local knowledge layer and optional Luna 5.6.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9266" y="1490980"/>
            <a:ext cx="7573468" cy="48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1EE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rchitectur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570" y="1637284"/>
            <a:ext cx="7280860" cy="4557392"/>
          </a:xfrm>
          <a:prstGeom prst="rect">
            <a:avLst/>
          </a:prstGeom>
        </p:spPr>
      </p:pic>
      <p:sp>
        <p:nvSpPr>
          <p:cNvPr id="90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9AA3B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005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98755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900" b="1">
                <a:solidFill>
                  <a:srgbClr val="2E6AF6"/>
                </a:solidFill>
                <a:latin typeface="Aptos"/>
              </a:rPr>
              <a:t>06 / ADVANCED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9875520" cy="4206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700" b="1">
                <a:solidFill>
                  <a:srgbClr val="08124F"/>
                </a:solidFill>
                <a:latin typeface="Aptos"/>
              </a:rPr>
              <a:t>Advanced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05156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50">
                <a:solidFill>
                  <a:srgbClr val="5E6784"/>
                </a:solidFill>
                <a:latin typeface="Aptos"/>
              </a:rPr>
              <a:t>Deep statistical detection turns raw telemetry into a defensible investigation trail.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5349240" cy="15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E1EE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73152" cy="1560000"/>
          </a:xfrm>
          <a:prstGeom prst="rect">
            <a:avLst/>
          </a:prstGeom>
          <a:solidFill>
            <a:srgbClr val="2E6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728216"/>
            <a:ext cx="48280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5E6784"/>
                </a:solidFill>
                <a:latin typeface="Aptos"/>
              </a:rPr>
              <a:t>MULTI-SOURCE CORRELATION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8968" y="1699768"/>
            <a:ext cx="30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2E6AF6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4968072" cy="965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72044"/>
                </a:solidFill>
                <a:latin typeface="Aptos"/>
              </a:rPr>
              <a:t>Correlates 17 diagnostic folders into one evidence-based workstation assessment.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572768"/>
            <a:ext cx="5349240" cy="15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E1EE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572768"/>
            <a:ext cx="73152" cy="1560000"/>
          </a:xfrm>
          <a:prstGeom prst="rect">
            <a:avLst/>
          </a:prstGeom>
          <a:solidFill>
            <a:srgbClr val="35C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728216"/>
            <a:ext cx="48280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5E6784"/>
                </a:solidFill>
                <a:latin typeface="Aptos"/>
              </a:rPr>
              <a:t>RANKED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37392" y="1699768"/>
            <a:ext cx="30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35C7D8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4968072" cy="965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72044"/>
                </a:solidFill>
                <a:latin typeface="Aptos"/>
              </a:rPr>
              <a:t>Uses confidence scoring and ranked evidence to trace each finding to exact files, events, and telemetry.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388800"/>
            <a:ext cx="5349240" cy="15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E1EE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3388800"/>
            <a:ext cx="73152" cy="1560000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3544248"/>
            <a:ext cx="48280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5E6784"/>
                </a:solidFill>
                <a:latin typeface="Aptos"/>
              </a:rPr>
              <a:t>STATISTICAL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3515800"/>
            <a:ext cx="30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FFC83D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827712"/>
            <a:ext cx="4968072" cy="965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72044"/>
                </a:solidFill>
                <a:latin typeface="Aptos"/>
              </a:rPr>
              <a:t>Detects micro-spikes, memory leaks, temporal clusters, and crash patterns using statistical analytics.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3388800"/>
            <a:ext cx="5349240" cy="15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E1EE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45352" y="3388800"/>
            <a:ext cx="73152" cy="1560000"/>
          </a:xfrm>
          <a:prstGeom prst="rect">
            <a:avLst/>
          </a:prstGeom>
          <a:solidFill>
            <a:srgbClr val="38B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544248"/>
            <a:ext cx="48280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5E6784"/>
                </a:solidFill>
                <a:latin typeface="Aptos"/>
              </a:rPr>
              <a:t>TRUSTED INVESTIGATION TRAIL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37392" y="3515800"/>
            <a:ext cx="30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38B27B"/>
                </a:solidFill>
                <a:latin typeface="Aptos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827712"/>
            <a:ext cx="4968072" cy="965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72044"/>
                </a:solidFill>
                <a:latin typeface="Aptos"/>
              </a:rPr>
              <a:t>Creates a trusted investigation trail instead of a black-box AI guess.</a:t>
            </a:r>
          </a:p>
        </p:txBody>
      </p:sp>
      <p:sp>
        <p:nvSpPr>
          <p:cNvPr id="90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9AA3B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007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98755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900" b="1">
                <a:solidFill>
                  <a:srgbClr val="2E6AF6"/>
                </a:solidFill>
                <a:latin typeface="Aptos"/>
              </a:rPr>
              <a:t>07 / RAG + LOCAL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9875520" cy="4206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700" b="1">
                <a:solidFill>
                  <a:srgbClr val="08124F"/>
                </a:solidFill>
                <a:latin typeface="Aptos"/>
              </a:rPr>
              <a:t>RAG + Local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05156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50">
                <a:solidFill>
                  <a:srgbClr val="5E6784"/>
                </a:solidFill>
                <a:latin typeface="Aptos"/>
              </a:rPr>
              <a:t>Grounded retrieval over a live knowledge base — not generic LLM guesswork.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5349240" cy="15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E1EE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73152" cy="1560000"/>
          </a:xfrm>
          <a:prstGeom prst="rect">
            <a:avLst/>
          </a:prstGeom>
          <a:solidFill>
            <a:srgbClr val="2E6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728216"/>
            <a:ext cx="48280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5E6784"/>
                </a:solidFill>
                <a:latin typeface="Aptos"/>
              </a:rPr>
              <a:t>GROUNDED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8968" y="1699768"/>
            <a:ext cx="30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2E6AF6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4968072" cy="965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72044"/>
                </a:solidFill>
                <a:latin typeface="Aptos"/>
              </a:rPr>
              <a:t>Blends local troubleshooting guides with targeted retrieval over crash codes, event IDs, and anomaly symptoms.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572768"/>
            <a:ext cx="5349240" cy="15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E1EE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572768"/>
            <a:ext cx="73152" cy="1560000"/>
          </a:xfrm>
          <a:prstGeom prst="rect">
            <a:avLst/>
          </a:prstGeom>
          <a:solidFill>
            <a:srgbClr val="35C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728216"/>
            <a:ext cx="48280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5E6784"/>
                </a:solidFill>
                <a:latin typeface="Aptos"/>
              </a:rPr>
              <a:t>EVIDENCE-GROUNDED RCA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37392" y="1699768"/>
            <a:ext cx="30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35C7D8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4968072" cy="965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72044"/>
                </a:solidFill>
                <a:latin typeface="Aptos"/>
              </a:rPr>
              <a:t>Grounds root-cause explanations in the local knowledge base, not just generic LLM output.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388800"/>
            <a:ext cx="5349240" cy="15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E1EE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3388800"/>
            <a:ext cx="73152" cy="1560000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3544248"/>
            <a:ext cx="48280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5E6784"/>
                </a:solidFill>
                <a:latin typeface="Aptos"/>
              </a:rPr>
              <a:t>LEARNING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3515800"/>
            <a:ext cx="30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FFC83D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827712"/>
            <a:ext cx="4968072" cy="965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72044"/>
                </a:solidFill>
                <a:latin typeface="Aptos"/>
              </a:rPr>
              <a:t>Stores validated RCA cases back into the knowledge base to improve future investigations.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3388800"/>
            <a:ext cx="5349240" cy="15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E1EE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45352" y="3388800"/>
            <a:ext cx="73152" cy="1560000"/>
          </a:xfrm>
          <a:prstGeom prst="rect">
            <a:avLst/>
          </a:prstGeom>
          <a:solidFill>
            <a:srgbClr val="38B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544248"/>
            <a:ext cx="48280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5E6784"/>
                </a:solidFill>
                <a:latin typeface="Aptos"/>
              </a:rPr>
              <a:t>INCIDENT PLAYBOOKS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37392" y="3515800"/>
            <a:ext cx="30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38B27B"/>
                </a:solidFill>
                <a:latin typeface="Aptos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827712"/>
            <a:ext cx="4968072" cy="965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72044"/>
                </a:solidFill>
                <a:latin typeface="Aptos"/>
              </a:rPr>
              <a:t>Supports incident-specific playbooks for faster troubleshooting decisions.</a:t>
            </a:r>
          </a:p>
        </p:txBody>
      </p:sp>
      <p:sp>
        <p:nvSpPr>
          <p:cNvPr id="90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9AA3B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008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98755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900" b="1">
                <a:solidFill>
                  <a:srgbClr val="2E6AF6"/>
                </a:solidFill>
                <a:latin typeface="Aptos"/>
              </a:rPr>
              <a:t>08 / LUNA CASE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9875520" cy="4206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700" b="1">
                <a:solidFill>
                  <a:srgbClr val="08124F"/>
                </a:solidFill>
                <a:latin typeface="Aptos"/>
              </a:rPr>
              <a:t>Luna 5.6 Case Chat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05156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50">
                <a:solidFill>
                  <a:srgbClr val="5E6784"/>
                </a:solidFill>
                <a:latin typeface="Aptos"/>
              </a:rPr>
              <a:t>Grounded answers from the current diagnostic case, local knowledge, and optional Luna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58883" y="1490980"/>
            <a:ext cx="8474234" cy="48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1EE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una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187" y="1637284"/>
            <a:ext cx="8181626" cy="4557392"/>
          </a:xfrm>
          <a:prstGeom prst="rect">
            <a:avLst/>
          </a:prstGeom>
        </p:spPr>
      </p:pic>
      <p:sp>
        <p:nvSpPr>
          <p:cNvPr id="90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9AA3B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009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98755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900" b="1">
                <a:solidFill>
                  <a:srgbClr val="2E6AF6"/>
                </a:solidFill>
                <a:latin typeface="Aptos"/>
              </a:rPr>
              <a:t>09 / SELF-HEALING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9875520" cy="4206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700" b="1">
                <a:solidFill>
                  <a:srgbClr val="08124F"/>
                </a:solidFill>
                <a:latin typeface="Aptos"/>
              </a:rPr>
              <a:t>Self-Healing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05156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50">
                <a:solidFill>
                  <a:srgbClr val="5E6784"/>
                </a:solidFill>
                <a:latin typeface="Aptos"/>
              </a:rPr>
              <a:t>From diagnosis to execution-ready PowerShell remediation, safely.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5349240" cy="15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E1EE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73152" cy="1560000"/>
          </a:xfrm>
          <a:prstGeom prst="rect">
            <a:avLst/>
          </a:prstGeom>
          <a:solidFill>
            <a:srgbClr val="2E6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728216"/>
            <a:ext cx="48280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5E6784"/>
                </a:solidFill>
                <a:latin typeface="Aptos"/>
              </a:rPr>
              <a:t>AUTOMATED REMEDIATION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8968" y="1699768"/>
            <a:ext cx="30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2E6AF6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4968072" cy="965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72044"/>
                </a:solidFill>
                <a:latin typeface="Aptos"/>
              </a:rPr>
              <a:t>Generates PowerShell remediation scripts for detected root causes and recommended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572768"/>
            <a:ext cx="5349240" cy="15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E1EE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572768"/>
            <a:ext cx="73152" cy="1560000"/>
          </a:xfrm>
          <a:prstGeom prst="rect">
            <a:avLst/>
          </a:prstGeom>
          <a:solidFill>
            <a:srgbClr val="35C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728216"/>
            <a:ext cx="48280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5E6784"/>
                </a:solidFill>
                <a:latin typeface="Aptos"/>
              </a:rPr>
              <a:t>SAFE BY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37392" y="1699768"/>
            <a:ext cx="30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35C7D8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4968072" cy="965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72044"/>
                </a:solidFill>
                <a:latin typeface="Aptos"/>
              </a:rPr>
              <a:t>Built with dry-run support through -WhatIf, rollback, and system restore protection.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388800"/>
            <a:ext cx="5349240" cy="15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E1EE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3388800"/>
            <a:ext cx="73152" cy="1560000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3544248"/>
            <a:ext cx="48280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5E6784"/>
                </a:solidFill>
                <a:latin typeface="Aptos"/>
              </a:rPr>
              <a:t>GUARDED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3515800"/>
            <a:ext cx="30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FFC83D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827712"/>
            <a:ext cx="4968072" cy="965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72044"/>
                </a:solidFill>
                <a:latin typeface="Aptos"/>
              </a:rPr>
              <a:t>Checks admin requirements and safe execution paths before altering the environment.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3388800"/>
            <a:ext cx="5349240" cy="15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E1EE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45352" y="3388800"/>
            <a:ext cx="73152" cy="1560000"/>
          </a:xfrm>
          <a:prstGeom prst="rect">
            <a:avLst/>
          </a:prstGeom>
          <a:solidFill>
            <a:srgbClr val="38B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544248"/>
            <a:ext cx="48280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5E6784"/>
                </a:solidFill>
                <a:latin typeface="Aptos"/>
              </a:rPr>
              <a:t>FROM ANALYSIS TO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37392" y="3515800"/>
            <a:ext cx="30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38B27B"/>
                </a:solidFill>
                <a:latin typeface="Aptos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827712"/>
            <a:ext cx="4968072" cy="965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72044"/>
                </a:solidFill>
                <a:latin typeface="Aptos"/>
              </a:rPr>
              <a:t>Turns the solution from a passive analyzer into an execution-ready engineering workflow.</a:t>
            </a:r>
          </a:p>
        </p:txBody>
      </p:sp>
      <p:sp>
        <p:nvSpPr>
          <p:cNvPr id="9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9AA3B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010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98755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900" b="1">
                <a:solidFill>
                  <a:srgbClr val="2E6AF6"/>
                </a:solidFill>
                <a:latin typeface="Aptos"/>
              </a:rPr>
              <a:t>11 /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9875520" cy="4206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700" b="1">
                <a:solidFill>
                  <a:srgbClr val="08124F"/>
                </a:solidFill>
                <a:latin typeface="Aptos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05156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50">
                <a:solidFill>
                  <a:srgbClr val="5E6784"/>
                </a:solidFill>
                <a:latin typeface="Aptos"/>
              </a:rPr>
              <a:t>An end-to-end platform for evidence-first endpoint diagnosis and remediation.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5349240" cy="15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E1EE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73152" cy="1560000"/>
          </a:xfrm>
          <a:prstGeom prst="rect">
            <a:avLst/>
          </a:prstGeom>
          <a:solidFill>
            <a:srgbClr val="2E6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728216"/>
            <a:ext cx="48280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5E6784"/>
                </a:solidFill>
                <a:latin typeface="Aptos"/>
              </a:rPr>
              <a:t>END-TO-END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8968" y="1699768"/>
            <a:ext cx="30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2E6AF6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4968072" cy="965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72044"/>
                </a:solidFill>
                <a:latin typeface="Aptos"/>
              </a:rPr>
              <a:t>This is not just a report generator; it is an end-to-end diagnosis, RCA, knowledge, and remediation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572768"/>
            <a:ext cx="5349240" cy="15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E1EE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572768"/>
            <a:ext cx="73152" cy="1560000"/>
          </a:xfrm>
          <a:prstGeom prst="rect">
            <a:avLst/>
          </a:prstGeom>
          <a:solidFill>
            <a:srgbClr val="35C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728216"/>
            <a:ext cx="48280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5E6784"/>
                </a:solidFill>
                <a:latin typeface="Aptos"/>
              </a:rPr>
              <a:t>BUILT FOR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37392" y="1699768"/>
            <a:ext cx="30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35C7D8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4968072" cy="965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72044"/>
                </a:solidFill>
                <a:latin typeface="Aptos"/>
              </a:rPr>
              <a:t>Evidence-first reasoning, grounded knowledge retrieval, and safe automation increase trust in frontline operations.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388800"/>
            <a:ext cx="5349240" cy="15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E1EE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3388800"/>
            <a:ext cx="73152" cy="1560000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3544248"/>
            <a:ext cx="48280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5E6784"/>
                </a:solidFill>
                <a:latin typeface="Aptos"/>
              </a:rPr>
              <a:t>ENTERPRISE-READY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3515800"/>
            <a:ext cx="30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FFC83D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827712"/>
            <a:ext cx="4968072" cy="965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72044"/>
                </a:solidFill>
                <a:latin typeface="Aptos"/>
              </a:rPr>
              <a:t>Built for real enterprise support teams that need speed, consistency, and operational clarity.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3388800"/>
            <a:ext cx="5349240" cy="15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E1EE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45352" y="3388800"/>
            <a:ext cx="73152" cy="1560000"/>
          </a:xfrm>
          <a:prstGeom prst="rect">
            <a:avLst/>
          </a:prstGeom>
          <a:solidFill>
            <a:srgbClr val="38B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544248"/>
            <a:ext cx="48280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5E6784"/>
                </a:solidFill>
                <a:latin typeface="Aptos"/>
              </a:rPr>
              <a:t>THE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37392" y="3515800"/>
            <a:ext cx="30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38B27B"/>
                </a:solidFill>
                <a:latin typeface="Aptos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827712"/>
            <a:ext cx="4968072" cy="965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72044"/>
                </a:solidFill>
                <a:latin typeface="Aptos"/>
              </a:rPr>
              <a:t>The roadmap includes broader OS coverage, fleet-scale analysis, and deeper automation.</a:t>
            </a:r>
          </a:p>
        </p:txBody>
      </p:sp>
      <p:sp>
        <p:nvSpPr>
          <p:cNvPr id="91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9AA3B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012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6AF6"/>
                </a:solidFill>
              </a:rPr>
              <a:t>05 / IMPACT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8124F"/>
                </a:solidFill>
              </a:rPr>
              <a:t>Impact &amp; Future Scope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784"/>
                </a:solidFill>
              </a:rPr>
              <a:t>From a working diagnostic tool to a platform that helps every case it closes.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3703320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73152" cy="2121408"/>
          </a:xfrm>
          <a:prstGeom prst="rect">
            <a:avLst/>
          </a:prstGeom>
          <a:solidFill>
            <a:srgbClr val="38B27B"/>
          </a:solidFill>
          <a:ln w="12700">
            <a:solidFill>
              <a:srgbClr val="38B2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172821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IMPACT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8096" y="2011680"/>
            <a:ext cx="3319272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Collapses hours of manual log triage into one automated pass. Every finding is source-cited and confidence-scored, and every remediation script ships with dry-run + rollback safety.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13048" y="1700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27B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25696" y="1572768"/>
            <a:ext cx="3703320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25696" y="1572768"/>
            <a:ext cx="73152" cy="2121408"/>
          </a:xfrm>
          <a:prstGeom prst="rect">
            <a:avLst/>
          </a:prstGeom>
          <a:solidFill>
            <a:srgbClr val="2E6AF6"/>
          </a:solidFill>
          <a:ln w="12700">
            <a:solidFill>
              <a:srgbClr val="2E6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26864" y="172821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MARKET POTENTIAL / USE CASES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26864" y="2011680"/>
            <a:ext cx="3319272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Enterprise IT helpdesk and endpoint reliability teams today; extends to server fleets, other OS diagnostic bundles, and any evidence-based troubleshooting domain.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71816" y="1700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AF6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84464" y="1572768"/>
            <a:ext cx="3310128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84464" y="1572768"/>
            <a:ext cx="73152" cy="2121408"/>
          </a:xfrm>
          <a:prstGeom prst="rect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85632" y="1728216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E6784"/>
                </a:solidFill>
              </a:rPr>
              <a:t>NEXT STEPS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85632" y="2011680"/>
            <a:ext cx="2926080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44"/>
                </a:solidFill>
              </a:rPr>
              <a:t>Add network, boot-time and battery detectors; correlate findings across a device fleet; tighter Luna integration to auto-draft incident tickets.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37392" y="1700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83D"/>
                </a:solidFill>
              </a:rPr>
              <a:t>03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977640"/>
            <a:ext cx="11027664" cy="1225296"/>
          </a:xfrm>
          <a:prstGeom prst="roundRect">
            <a:avLst>
              <a:gd name="adj" fmla="val 5970"/>
            </a:avLst>
          </a:prstGeom>
          <a:solidFill>
            <a:srgbClr val="08124F"/>
          </a:solidFill>
          <a:ln w="12700">
            <a:solidFill>
              <a:srgbClr val="081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2519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9BFFF"/>
                </a:solidFill>
              </a:rPr>
              <a:t>TEAM &amp; ROLES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26920" y="4197096"/>
            <a:ext cx="7674864" cy="82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Niranjan  •  Complete execution of Endpoint work-station end to end with Fine tunning </a:t>
            </a:r>
          </a:p>
          <a:p>
            <a:r>
              <a:rPr lang="en-US" sz="1500" b="1" dirty="0">
                <a:solidFill>
                  <a:srgbClr val="FFFFFF"/>
                </a:solidFill>
              </a:rPr>
              <a:t>Dhanasekar • Concept Development</a:t>
            </a:r>
          </a:p>
          <a:p>
            <a:r>
              <a:rPr lang="en-US" sz="1500" b="1" dirty="0">
                <a:solidFill>
                  <a:srgbClr val="FFFFFF"/>
                </a:solidFill>
              </a:rPr>
              <a:t>Bharathi • Concept Development </a:t>
            </a:r>
          </a:p>
          <a:p>
            <a:r>
              <a:rPr lang="en-US" sz="1500" b="1" dirty="0">
                <a:solidFill>
                  <a:srgbClr val="FFFFFF"/>
                </a:solidFill>
              </a:rPr>
              <a:t>Abilash • Testing</a:t>
            </a:r>
          </a:p>
          <a:p>
            <a:r>
              <a:rPr lang="en-US" sz="1500" b="1" dirty="0">
                <a:solidFill>
                  <a:srgbClr val="FFFFFF"/>
                </a:solidFill>
              </a:rPr>
              <a:t>Godfrey • Testing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012680" y="4251960"/>
            <a:ext cx="1271016" cy="310896"/>
          </a:xfrm>
          <a:prstGeom prst="roundRect">
            <a:avLst>
              <a:gd name="adj" fmla="val 23529"/>
            </a:avLst>
          </a:prstGeom>
          <a:solidFill>
            <a:srgbClr val="DCE8FF"/>
          </a:solidFill>
          <a:ln w="12700">
            <a:solidFill>
              <a:srgbClr val="DCE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12680" y="4315968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6AF6"/>
                </a:solidFill>
              </a:rPr>
              <a:t>READY TO PITCH</a:t>
            </a:r>
            <a:endParaRPr lang="en-US" sz="8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3B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25EFDF-9D9B-3D7D-C012-1B88B78D4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3539" y="1713337"/>
            <a:ext cx="8642082" cy="2387600"/>
          </a:xfrm>
        </p:spPr>
        <p:txBody>
          <a:bodyPr/>
          <a:lstStyle/>
          <a:p>
            <a:r>
              <a:rPr lang="en-US" b="1" dirty="0"/>
              <a:t>Thank You</a:t>
            </a:r>
            <a:endParaRPr lang="en-US" b="1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3803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1091</Words>
  <Application>Microsoft Office PowerPoint</Application>
  <PresentationFormat>Widescreen</PresentationFormat>
  <Paragraphs>165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NIQ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Hackfest 2026 Solution Presentation Template</dc:title>
  <dc:subject>Hackfest 2026 Solution Presentation Template</dc:subject>
  <dc:creator>Innovation Council</dc:creator>
  <cp:lastModifiedBy>Niranjan E</cp:lastModifiedBy>
  <cp:revision>7</cp:revision>
  <dcterms:created xsi:type="dcterms:W3CDTF">2026-09-10T08:15:12Z</dcterms:created>
  <dcterms:modified xsi:type="dcterms:W3CDTF">2026-09-23T16:38:36Z</dcterms:modified>
</cp:coreProperties>
</file>